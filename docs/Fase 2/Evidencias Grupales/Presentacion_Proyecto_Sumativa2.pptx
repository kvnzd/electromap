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24" y="1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9975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assets/duocu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94360"/>
            <a:ext cx="2377440" cy="58338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TÍTULO · FASE 2 — DESARROLLO DE PROYECTO APT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9808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ElectroMap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77240" y="37947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eléctrico de tableros en tiempo real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77240" y="4617720"/>
            <a:ext cx="3291840" cy="0"/>
          </a:xfrm>
          <a:prstGeom prst="line">
            <a:avLst/>
          </a:prstGeom>
          <a:noFill/>
          <a:ln w="25400">
            <a:solidFill>
              <a:srgbClr val="F8B3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777240" y="48463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VSC — VoltSense Cloud
</a:t>
            </a:r>
            <a:r>
              <a:rPr lang="en-US" sz="15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Zapata Dávila
</a:t>
            </a:r>
            <a:r>
              <a:rPr lang="en-US" sz="15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· Duoc UC · Sede Alameda
</a:t>
            </a:r>
            <a:r>
              <a:rPr lang="en-US" sz="15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(PTY4614)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agenda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868680" y="1911096"/>
            <a:ext cx="457200" cy="45720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6868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181965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508760" y="23134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ElectroMap y el problema que resuelve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3172968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868680" y="3392424"/>
            <a:ext cx="457200" cy="45720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86868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08760" y="330098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egreso e intereses profesionales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508760" y="3794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y motivación personal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4654296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868680" y="4873752"/>
            <a:ext cx="457200" cy="45720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86868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08760" y="47823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y objetivos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508760" y="52760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 del proyecto y metas planteadas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577840" y="169164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5806440" y="1911096"/>
            <a:ext cx="457200" cy="45720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5806440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446520" y="181965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y avance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446520" y="231343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Cronograma, estado real y evidencia de avance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577840" y="3172968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3"/>
          <p:cNvSpPr/>
          <p:nvPr/>
        </p:nvSpPr>
        <p:spPr>
          <a:xfrm>
            <a:off x="5806440" y="3392424"/>
            <a:ext cx="457200" cy="45720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4"/>
          <p:cNvSpPr/>
          <p:nvPr/>
        </p:nvSpPr>
        <p:spPr>
          <a:xfrm>
            <a:off x="580644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446520" y="3300984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6446520" y="379476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organiza y planifica el desarrollo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577840" y="4654296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8"/>
          <p:cNvSpPr/>
          <p:nvPr/>
        </p:nvSpPr>
        <p:spPr>
          <a:xfrm>
            <a:off x="5806440" y="4873752"/>
            <a:ext cx="457200" cy="45720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9"/>
          <p:cNvSpPr/>
          <p:nvPr/>
        </p:nvSpPr>
        <p:spPr>
          <a:xfrm>
            <a:off x="5806440" y="4873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6446520" y="4782312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6446520" y="527608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entrega como respaldo del avance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descripcion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Descripción del proyecto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5577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es un sistema de monitoreo eléctrico en tiempo real para tableros eléctricos.</a:t>
            </a:r>
            <a:endParaRPr lang="en-US" sz="145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aplica a HQD Ingeniería, empresa donde trabajo, por una necesidad real que enfrentan hoy.</a:t>
            </a:r>
            <a:endParaRPr lang="en-US" sz="145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sistema exclusivamente de monitoreo: no opera, corta ni modifica el tablero de forma remota (no es control ni SCADA).</a:t>
            </a:r>
            <a:endParaRPr lang="en-US" sz="1450" dirty="0"/>
          </a:p>
          <a:p>
            <a:pPr marL="228600" indent="-228600">
              <a:lnSpc>
                <a:spcPct val="118000"/>
              </a:lnSpc>
              <a:spcAft>
                <a:spcPts val="1400"/>
              </a:spcAft>
              <a:buSzPct val="100000"/>
              <a:buChar char="▪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multi-tenant: cada nivel ve únicamente lo que le corresponde.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29400" y="1691640"/>
            <a:ext cx="4937760" cy="960120"/>
          </a:xfrm>
          <a:prstGeom prst="roundRect">
            <a:avLst>
              <a:gd name="adj" fmla="val 6667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85800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0" y="2148840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 de la plataforma — acceso total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988552" y="2651760"/>
            <a:ext cx="219456" cy="256032"/>
          </a:xfrm>
          <a:prstGeom prst="downArrow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903720" y="2907792"/>
            <a:ext cx="4389120" cy="960120"/>
          </a:xfrm>
          <a:prstGeom prst="roundRect">
            <a:avLst>
              <a:gd name="adj" fmla="val 6667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7132320" y="2999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Empresa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132320" y="336499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HQD Ingeniería — ve y monitorea sus tableros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988552" y="3867912"/>
            <a:ext cx="219456" cy="256032"/>
          </a:xfrm>
          <a:prstGeom prst="downArrow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1"/>
          <p:cNvSpPr/>
          <p:nvPr/>
        </p:nvSpPr>
        <p:spPr>
          <a:xfrm>
            <a:off x="7178040" y="4123944"/>
            <a:ext cx="3840480" cy="960120"/>
          </a:xfrm>
          <a:prstGeom prst="roundRect">
            <a:avLst>
              <a:gd name="adj" fmla="val 6667"/>
            </a:avLst>
          </a:prstGeom>
          <a:solidFill>
            <a:srgbClr val="596B7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2"/>
          <p:cNvSpPr/>
          <p:nvPr/>
        </p:nvSpPr>
        <p:spPr>
          <a:xfrm>
            <a:off x="7406640" y="421538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 final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06640" y="458114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únicamente sus propios tableros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relevancia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Relevancia — el problema real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960120" y="16916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“Hoy no existe visibilidad en tiempo real del comportamiento eléctrico de los tableros — un problema solo se detecta si alguien va físicamente a revisar.”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hape 5"/>
          <p:cNvSpPr/>
          <p:nvPr/>
        </p:nvSpPr>
        <p:spPr>
          <a:xfrm>
            <a:off x="914400" y="3337560"/>
            <a:ext cx="146304" cy="146304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170432" y="3246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quién afecta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HQD Ingeniería y, a través de ella, a sus clientes finales que dependen de sus tableros para operar con seguridad.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25112" y="3063240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599432" y="3337560"/>
            <a:ext cx="146304" cy="146304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4855464" y="3246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ocurre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99432" y="384048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los distintos tableros eléctricos que HQD Ingeniería y sus clientes finales operan en la Región Metropolitana.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10144" y="3063240"/>
            <a:ext cx="3502152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8284464" y="3337560"/>
            <a:ext cx="146304" cy="146304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8540496" y="3246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valor real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84464" y="3840480"/>
            <a:ext cx="295351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visibilidad en tiempo real del comportamiento eléctrico, permitiendo detectar anomalías a tiempo, no reactivamente.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perfil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de egreso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oficial del perfil de egreso — Ingeniería en Informática, Duoc UC: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914400" y="19202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“El Ingeniero(a) en Informática estará capacitado para realizar labores de levantamiento y análisis de requerimientos, desarrollo, adaptación e integración de sistemas computacionales, integración de tecnologías de información, desarrollo de soluciones tecnológicas, seguridad de sistemas computacionales, aseguramiento de la calidad del software y gestión de proyectos informáticos.”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de especialidad que ElectroMap pone en práctica: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61188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0" name="Image 1" descr="assets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86791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685032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solución de software que sistematiza el proceso de desarrollo y mantenimiento, asegurando el logro de sus objetivos.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6172200" y="361188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2" descr="assets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3867912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66560" y="3685032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de datos para soportar los requerimientos de la organización, de acuerdo a un diseño definido y escalable en el tiempo.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640080" y="466344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6" name="Image 3" descr="assets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919472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4736592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de certificación tanto de los productos como de los procesos, utilizando buenas prácticas definidas por la industria.</a:t>
            </a:r>
            <a:endParaRPr lang="en-US" sz="1080" dirty="0"/>
          </a:p>
        </p:txBody>
      </p:sp>
      <p:sp>
        <p:nvSpPr>
          <p:cNvPr id="18" name="Shape 12"/>
          <p:cNvSpPr/>
          <p:nvPr/>
        </p:nvSpPr>
        <p:spPr>
          <a:xfrm>
            <a:off x="6172200" y="4663440"/>
            <a:ext cx="534924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9" name="Image 4" descr="assets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4919472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66560" y="4736592"/>
            <a:ext cx="45720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proyectos informáticos, ofreciendo alternativas para la toma de decisiones de acuerdo a los requerimientos de la organización.</a:t>
            </a:r>
            <a:endParaRPr lang="en-US" sz="1080" dirty="0"/>
          </a:p>
        </p:txBody>
      </p:sp>
      <p:sp>
        <p:nvSpPr>
          <p:cNvPr id="21" name="Text 14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Guía Estudiantil 2023 — Escuela de Informática y Telecomunicaciones, Duoc UC (pp. 22–23).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22960" y="685800"/>
            <a:ext cx="640080" cy="640080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assets/icons/interese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8412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Intereses profesionales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822960" y="19202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F8B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“Mis principales intereses profesionales están en liderar soluciones de software completas, de punta a punta, combinando el rol de desarrollador full stack con el de jefe de Proyecto.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22960" y="39776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051560" y="4178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(AWS)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459943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arquitectura completa está alojada en la nube: backend y base de datos en Railway.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39776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4663440" y="4178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663440" y="459943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accesos multi-tenant que diseñé aplica directamente lo aprendido en ciberseguridad.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46720" y="397764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275320" y="41788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 técnico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75320" y="459943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3E8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este Proyecto APT me permite aplicar ambos intereses en un proyecto real, de principio a fin, liderado por mí.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factibilidad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posible desarrollar ElectroMap dentro del semestre (agosto–diciembre 2026)? Sí — considerando: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68680" y="233172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Duración del semestre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770632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se planificó completo dentro del período académico, cerrando el alcance a diciembre.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214884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4553712" y="233172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Horas asignadas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553712" y="2770632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épicas dimensionadas por Planning Poker (Fibonacci), distribuidas en un cronograma semanal ajustado a Capstone.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010144" y="2148840"/>
            <a:ext cx="35021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8238744" y="2331720"/>
            <a:ext cx="3044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38744" y="2770632"/>
            <a:ext cx="3044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hardware ya está comprado (CT H040 60A + AcuRev-2110-mV-WEB2); infraestructura en la nube (Railway), sin servidor físico.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40080" y="425196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identificado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14400" y="48006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instalación del analizador en el tablero real de HQD podría retrasarse por temas propios del cliente.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080760" y="4480560"/>
            <a:ext cx="0" cy="1371600"/>
          </a:xfrm>
          <a:prstGeom prst="line">
            <a:avLst/>
          </a:prstGeom>
          <a:noFill/>
          <a:ln w="19050">
            <a:solidFill>
              <a:srgbClr val="3D5A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6355080" y="4434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55080" y="48006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y probar el sistema contra un simulador de mediciones mientras se concreta la instalación real.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objetivos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914400" y="1581912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aplicación web de monitoreo eléctrico en tiempo real que permita a VSC, empresas y clientes finales visualizar mediciones actualizadas en vivo, respetando el modelo de acceso multi-tenant, dentro del plazo de la asignatura.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788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específicos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6"/>
          <p:cNvSpPr/>
          <p:nvPr/>
        </p:nvSpPr>
        <p:spPr>
          <a:xfrm>
            <a:off x="841248" y="3447288"/>
            <a:ext cx="384048" cy="384048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841248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371600" y="3374136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ingesta y persistencia de las mediciones del analizador AcuRev-2110 hacia el backend, sin pérdida de datos.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72200" y="324612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6373368" y="3447288"/>
            <a:ext cx="384048" cy="384048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373368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903720" y="3374136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visualización en tiempo real de mediciones en el dashboard vía WebSocket, sin recargar la página.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40080" y="466344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841248" y="4864608"/>
            <a:ext cx="384048" cy="384048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841248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4791456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alarmas por umbral, historial consultable y control de acceso multi-tenant (VSC / empresa / cliente final).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190488" y="4645152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373368" y="4864608"/>
            <a:ext cx="384048" cy="384048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6373368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903720" y="4791456"/>
            <a:ext cx="44348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estabilidad y usabilidad mediante pruebas de carga, documentación técnica y despliegue accesible.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metodologia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ágil organizada en épicas, dimensionadas con Planning Poker (escala Fibonacci) y distribuidas en un cronograma semanal.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25877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23134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258775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566160"/>
            <a:ext cx="2221992" cy="201168"/>
          </a:xfrm>
          <a:prstGeom prst="roundRect">
            <a:avLst>
              <a:gd name="adj" fmla="val 18182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822960" y="3566160"/>
            <a:ext cx="1375519" cy="201168"/>
          </a:xfrm>
          <a:prstGeom prst="roundRect">
            <a:avLst>
              <a:gd name="adj" fmla="val 18182"/>
            </a:avLst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822960" y="38404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pts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29000" y="2148840"/>
            <a:ext cx="25877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3611880" y="23134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2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611880" y="258775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&amp; tiempo real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11880" y="3566160"/>
            <a:ext cx="2221992" cy="201168"/>
          </a:xfrm>
          <a:prstGeom prst="roundRect">
            <a:avLst>
              <a:gd name="adj" fmla="val 18182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3611880" y="3566160"/>
            <a:ext cx="1375519" cy="201168"/>
          </a:xfrm>
          <a:prstGeom prst="roundRect">
            <a:avLst>
              <a:gd name="adj" fmla="val 18182"/>
            </a:avLst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/>
          <p:nvPr/>
        </p:nvSpPr>
        <p:spPr>
          <a:xfrm>
            <a:off x="3611880" y="38404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2148840"/>
            <a:ext cx="25877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6400800" y="23134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3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400800" y="258775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 &amp; seguridad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0" y="3566160"/>
            <a:ext cx="2221992" cy="201168"/>
          </a:xfrm>
          <a:prstGeom prst="roundRect">
            <a:avLst>
              <a:gd name="adj" fmla="val 18182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19"/>
          <p:cNvSpPr/>
          <p:nvPr/>
        </p:nvSpPr>
        <p:spPr>
          <a:xfrm>
            <a:off x="6400800" y="3566160"/>
            <a:ext cx="2221992" cy="201168"/>
          </a:xfrm>
          <a:prstGeom prst="roundRect">
            <a:avLst>
              <a:gd name="adj" fmla="val 18182"/>
            </a:avLst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0"/>
          <p:cNvSpPr/>
          <p:nvPr/>
        </p:nvSpPr>
        <p:spPr>
          <a:xfrm>
            <a:off x="6400800" y="38404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pts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006840" y="2148840"/>
            <a:ext cx="2587752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9189720" y="231343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4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189720" y="2587752"/>
            <a:ext cx="22219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Pulido y testing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9189720" y="3566160"/>
            <a:ext cx="2221992" cy="201168"/>
          </a:xfrm>
          <a:prstGeom prst="roundRect">
            <a:avLst>
              <a:gd name="adj" fmla="val 18182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9189720" y="3566160"/>
            <a:ext cx="1375519" cy="201168"/>
          </a:xfrm>
          <a:prstGeom prst="roundRect">
            <a:avLst>
              <a:gd name="adj" fmla="val 18182"/>
            </a:avLst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9189720" y="3840480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pts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452628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914400" y="470916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individuales: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Proyecto APT es individual, no aplica una definición de funciones por integrante — asumo directamente los roles de desarrollador full stack y jefe de proyecto. </a:t>
            </a:r>
            <a:r>
              <a:rPr lang="en-US" sz="12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épica cuenta con criterios de aceptación explícitos, que funcionan como definición de "terminado", con seguimiento semanal contra el cronograma.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plan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5087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20 semanas (Carta Gantt), con las 4 épicas distribuidas semana a semana y seguimiento real de avance contra lo planificado.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260604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396339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634213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872086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110996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S20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40080" y="22860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34640" y="2286000"/>
            <a:ext cx="8503920" cy="566928"/>
          </a:xfrm>
          <a:prstGeom prst="roundRect">
            <a:avLst>
              <a:gd name="adj" fmla="val 8065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2834640" y="2286000"/>
            <a:ext cx="1790299" cy="566928"/>
          </a:xfrm>
          <a:prstGeom prst="roundRect">
            <a:avLst>
              <a:gd name="adj" fmla="val 8065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834640" y="2286000"/>
            <a:ext cx="17902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S1–S5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30175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&amp; tiempo real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834640" y="3017520"/>
            <a:ext cx="8503920" cy="566928"/>
          </a:xfrm>
          <a:prstGeom prst="roundRect">
            <a:avLst>
              <a:gd name="adj" fmla="val 8065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4624939" y="3017520"/>
            <a:ext cx="2237874" cy="566928"/>
          </a:xfrm>
          <a:prstGeom prst="roundRect">
            <a:avLst>
              <a:gd name="adj" fmla="val 8065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4624939" y="3017520"/>
            <a:ext cx="22378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S5–S10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374904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 &amp; seguridad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834640" y="3749040"/>
            <a:ext cx="8503920" cy="566928"/>
          </a:xfrm>
          <a:prstGeom prst="roundRect">
            <a:avLst>
              <a:gd name="adj" fmla="val 8065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6862813" y="3749040"/>
            <a:ext cx="2685448" cy="566928"/>
          </a:xfrm>
          <a:prstGeom prst="roundRect">
            <a:avLst>
              <a:gd name="adj" fmla="val 8065"/>
            </a:avLst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6862813" y="3749040"/>
            <a:ext cx="2685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S10–S16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0080" y="448056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Pulido y testing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2834640" y="4480560"/>
            <a:ext cx="8503920" cy="566928"/>
          </a:xfrm>
          <a:prstGeom prst="roundRect">
            <a:avLst>
              <a:gd name="adj" fmla="val 8065"/>
            </a:avLst>
          </a:prstGeom>
          <a:solidFill>
            <a:srgbClr val="E2E7E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Shape 22"/>
          <p:cNvSpPr/>
          <p:nvPr/>
        </p:nvSpPr>
        <p:spPr>
          <a:xfrm>
            <a:off x="9548261" y="4480560"/>
            <a:ext cx="1790299" cy="566928"/>
          </a:xfrm>
          <a:prstGeom prst="roundRect">
            <a:avLst>
              <a:gd name="adj" fmla="val 8065"/>
            </a:avLst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3"/>
          <p:cNvSpPr/>
          <p:nvPr/>
        </p:nvSpPr>
        <p:spPr>
          <a:xfrm>
            <a:off x="9548261" y="4480560"/>
            <a:ext cx="17902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S16–S20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8" name="Image 1" descr="assets/icons/check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605272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1371600" y="544068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real: 9 etapas completas y fusionadas a main; Etapa 10 (ingesta) con retraso frente a lo planificado.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icons/evidencias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84632"/>
            <a:ext cx="9601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640080" y="169164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1" descr="assets/icons/evidencias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1031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26974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Repositorio en GitHub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914400" y="342900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fuente del frontend y backend; 9 Pull Requests (Etapas 1–9) fusionados a main; 49 pruebas automáticas.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914400" y="4663440"/>
            <a:ext cx="2953512" cy="0"/>
          </a:xfrm>
          <a:prstGeom prst="line">
            <a:avLst/>
          </a:prstGeom>
          <a:noFill/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/>
          <p:nvPr/>
        </p:nvSpPr>
        <p:spPr>
          <a:xfrm>
            <a:off x="914400" y="48006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del avance real: etapas fusionadas, revisadas y validadas con pruebas.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25112" y="169164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9"/>
          <p:cNvSpPr/>
          <p:nvPr/>
        </p:nvSpPr>
        <p:spPr>
          <a:xfrm>
            <a:off x="4599432" y="1965960"/>
            <a:ext cx="548640" cy="54864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4" name="Image 2" descr="assets/icons/evidencias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210312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99432" y="26974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de evidencia (máx. 3 min)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4599432" y="342900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real: login multi-tenant y panel de administración (roles y permisos VSC / empresa / cliente).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4599432" y="4663440"/>
            <a:ext cx="2953512" cy="0"/>
          </a:xfrm>
          <a:prstGeom prst="line">
            <a:avLst/>
          </a:prstGeom>
          <a:noFill/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3"/>
          <p:cNvSpPr/>
          <p:nvPr/>
        </p:nvSpPr>
        <p:spPr>
          <a:xfrm>
            <a:off x="4599432" y="48006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a continuación de esta presentación.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010144" y="1691640"/>
            <a:ext cx="3502152" cy="416052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5"/>
          <p:cNvSpPr/>
          <p:nvPr/>
        </p:nvSpPr>
        <p:spPr>
          <a:xfrm>
            <a:off x="8284464" y="1965960"/>
            <a:ext cx="548640" cy="548640"/>
          </a:xfrm>
          <a:prstGeom prst="ellipse">
            <a:avLst/>
          </a:prstGeom>
          <a:solidFill>
            <a:srgbClr val="00213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1" name="Image 3" descr="assets/icons/evidencias_yel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210312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84464" y="2697480"/>
            <a:ext cx="2953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0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Gantt y seguimiento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84464" y="342900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con las 4 épicas distribuidas semana a semana; seguimiento real vs. planificado.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284464" y="4663440"/>
            <a:ext cx="2953512" cy="0"/>
          </a:xfrm>
          <a:prstGeom prst="line">
            <a:avLst/>
          </a:prstGeom>
          <a:noFill/>
          <a:ln w="1270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19"/>
          <p:cNvSpPr/>
          <p:nvPr/>
        </p:nvSpPr>
        <p:spPr>
          <a:xfrm>
            <a:off x="8284464" y="4800600"/>
            <a:ext cx="29535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del plan de trabajo y su avance: Etapa 10 (ingesta) con retraso a la fecha.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· Proyecto de Título · VSC — VoltSense Cloud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9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200400"/>
            <a:ext cx="5486400" cy="5486400"/>
          </a:xfrm>
          <a:prstGeom prst="ellipse">
            <a:avLst/>
          </a:prstGeom>
          <a:solidFill>
            <a:srgbClr val="0F3A5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assets/duocu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2011680" cy="4937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7240" y="2331720"/>
            <a:ext cx="822960" cy="822960"/>
          </a:xfrm>
          <a:prstGeom prst="ellipse">
            <a:avLst/>
          </a:prstGeom>
          <a:solidFill>
            <a:srgbClr val="F8B31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1" descr="assets/icons/cierr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5603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2880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1828800" y="3063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8B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8" name="Shape 4"/>
          <p:cNvSpPr/>
          <p:nvPr/>
        </p:nvSpPr>
        <p:spPr>
          <a:xfrm>
            <a:off x="777240" y="4114800"/>
            <a:ext cx="3291840" cy="0"/>
          </a:xfrm>
          <a:prstGeom prst="line">
            <a:avLst/>
          </a:prstGeom>
          <a:noFill/>
          <a:ln w="25400">
            <a:solidFill>
              <a:srgbClr val="F8B31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5"/>
          <p:cNvSpPr/>
          <p:nvPr/>
        </p:nvSpPr>
        <p:spPr>
          <a:xfrm>
            <a:off x="777240" y="4343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ElectroMap </a:t>
            </a:r>
            <a:r>
              <a:rPr lang="en-US" sz="13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VSC (VoltSense Cloud)
Kevin Zapata Dávila · Ingeniería en Informática · Duoc UC
Proyecto de Título (PTY4614) — Fase 2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1359</Words>
  <Application>Microsoft Office PowerPoint</Application>
  <PresentationFormat>Panorámica</PresentationFormat>
  <Paragraphs>181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ElectroMap — Proyecto de Título Fase 1</dc:title>
  <dc:subject>PptxGenJS Presentation</dc:subject>
  <dc:creator>Kevin Zapata Dávila</dc:creator>
  <cp:lastModifiedBy>KEVIN MICHAEL ZAPATA DAVILA</cp:lastModifiedBy>
  <cp:revision>2</cp:revision>
  <dcterms:created xsi:type="dcterms:W3CDTF">2026-08-30T23:48:45Z</dcterms:created>
  <dcterms:modified xsi:type="dcterms:W3CDTF">2026-08-31T01:15:25Z</dcterms:modified>
</cp:coreProperties>
</file>